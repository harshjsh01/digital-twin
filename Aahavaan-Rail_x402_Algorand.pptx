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jpg" ContentType="image/jpg"/>
  <Override PartName="/ppt/media/image2.jpg" ContentType="image/jpg"/>
  <Override PartName="/ppt/media/image3.jpg" ContentType="image/jpg"/>
  <Override PartName="/ppt/media/image4.jpg" ContentType="image/jpg"/>
  <Override PartName="/ppt/media/image5.jpg" ContentType="image/jpg"/>
  <Override PartName="/ppt/media/image6.jpg" ContentType="image/jpg"/>
  <Override PartName="/ppt/media/image7.jpg" ContentType="image/jpg"/>
  <Override PartName="/ppt/media/image8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5" r:id="rId15"/>
    <p:sldId id="261" r:id="rId7"/>
    <p:sldId id="262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1972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649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98064" y="466344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Coder’s High</a:t>
            </a:r>
            <a:endParaRPr lang="en-US" b="1" dirty="0"/>
          </a:p>
        </p:txBody>
      </p:sp>
      <p:sp>
        <p:nvSpPr>
          <p:cNvPr id="4" name="Text 1"/>
          <p:cNvSpPr/>
          <p:nvPr/>
        </p:nvSpPr>
        <p:spPr>
          <a:xfrm>
            <a:off x="4303986" y="5056632"/>
            <a:ext cx="74917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Inefficient train dispatching leading to cascading delays on the Indian Railways network</a:t>
            </a:r>
            <a:endParaRPr lang="en-US" sz="1400" b="1" dirty="0"/>
          </a:p>
        </p:txBody>
      </p:sp>
      <p:sp>
        <p:nvSpPr>
          <p:cNvPr id="5" name="Text 2"/>
          <p:cNvSpPr/>
          <p:nvPr/>
        </p:nvSpPr>
        <p:spPr>
          <a:xfrm>
            <a:off x="3429000" y="545896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Gurmehakdeep Singh , Harsh Joshi , Anmol Singh , Raunak Raj , Sandeep Singh</a:t>
            </a:r>
            <a:endParaRPr lang="en-US" sz="1400" b="1" dirty="0"/>
          </a:p>
        </p:txBody>
      </p:sp>
      <p:sp>
        <p:nvSpPr>
          <p:cNvPr id="6" name="Text 3"/>
          <p:cNvSpPr/>
          <p:nvPr/>
        </p:nvSpPr>
        <p:spPr>
          <a:xfrm>
            <a:off x="2359152" y="5812116"/>
            <a:ext cx="8686800" cy="509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Amritsar Group of Colleges , Government Engineering College (ECB) Bikaner ,</a:t>
            </a:r>
            <a:r>
              <a:rPr lang="it-IT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Amritsar Group of Colleges,</a:t>
            </a: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it-IT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Marwari College (MC) Ranchi, Amritsar Group of Colleges </a:t>
            </a:r>
            <a:endParaRPr lang="en-US" sz="1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" y="1965960"/>
            <a:ext cx="411480" cy="411480"/>
          </a:xfrm>
          <a:prstGeom prst="ellipse">
            <a:avLst/>
          </a:prstGeom>
          <a:solidFill>
            <a:srgbClr val="FF6B1A"/>
          </a:solidFill>
          <a:ln/>
        </p:spPr>
      </p:sp>
      <p:sp>
        <p:nvSpPr>
          <p:cNvPr id="4" name="Text 1"/>
          <p:cNvSpPr/>
          <p:nvPr/>
        </p:nvSpPr>
        <p:spPr>
          <a:xfrm>
            <a:off x="59436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143000" y="1911096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Massive, Shared Network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143000" y="2350008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Railways runs one of the world's largest, busiest rail networks, with trains of very different priorities sharing the same limited tracks.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080760" y="1965960"/>
            <a:ext cx="411480" cy="411480"/>
          </a:xfrm>
          <a:prstGeom prst="ellipse">
            <a:avLst/>
          </a:prstGeom>
          <a:solidFill>
            <a:srgbClr val="FF6B1A"/>
          </a:solidFill>
          <a:ln/>
        </p:spPr>
      </p:sp>
      <p:sp>
        <p:nvSpPr>
          <p:cNvPr id="8" name="Text 5"/>
          <p:cNvSpPr/>
          <p:nvPr/>
        </p:nvSpPr>
        <p:spPr>
          <a:xfrm>
            <a:off x="608076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629400" y="1911096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Dispatching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629400" y="2350008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Conflicts like crossings, overtakes, and single-track bottlenecks are mostly resolved manually, after they already start to occur.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94360" y="4297680"/>
            <a:ext cx="411480" cy="411480"/>
          </a:xfrm>
          <a:prstGeom prst="ellipse">
            <a:avLst/>
          </a:prstGeom>
          <a:solidFill>
            <a:srgbClr val="FF6B1A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4297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43000" y="4242816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Cascading Delays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143000" y="4681728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unresolved conflict ripples forward, causing cascading delays and poor punctuality across the network.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080760" y="4297680"/>
            <a:ext cx="411480" cy="411480"/>
          </a:xfrm>
          <a:prstGeom prst="ellipse">
            <a:avLst/>
          </a:prstGeom>
          <a:solidFill>
            <a:srgbClr val="FF6B1A"/>
          </a:solidFill>
          <a:ln/>
        </p:spPr>
      </p:sp>
      <p:sp>
        <p:nvSpPr>
          <p:cNvPr id="16" name="Text 13"/>
          <p:cNvSpPr/>
          <p:nvPr/>
        </p:nvSpPr>
        <p:spPr>
          <a:xfrm>
            <a:off x="6080760" y="4297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629400" y="4242816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Predictive Layer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629400" y="4681728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real-time, predictive decision-support system that simulates the network and prevents conflicts before they happen.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" y="169164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FF1E8"/>
          </a:solidFill>
          <a:ln/>
        </p:spPr>
      </p:sp>
      <p:sp>
        <p:nvSpPr>
          <p:cNvPr id="4" name="Text 1"/>
          <p:cNvSpPr/>
          <p:nvPr/>
        </p:nvSpPr>
        <p:spPr>
          <a:xfrm>
            <a:off x="868680" y="169164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2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Aahavaan-Rail is a full-stack Digital Twin + Decision Support System that simulates the live railway network, predicts conflicts, and resolves them with AI before they cause delays.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94360" y="288036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3136392"/>
            <a:ext cx="457200" cy="73152"/>
          </a:xfrm>
          <a:prstGeom prst="rect">
            <a:avLst/>
          </a:prstGeom>
          <a:solidFill>
            <a:srgbClr val="FF6B1A"/>
          </a:solidFill>
          <a:ln/>
        </p:spPr>
      </p:sp>
      <p:sp>
        <p:nvSpPr>
          <p:cNvPr id="7" name="Text 4"/>
          <p:cNvSpPr/>
          <p:nvPr/>
        </p:nvSpPr>
        <p:spPr>
          <a:xfrm>
            <a:off x="795528" y="333756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 Simulation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95528" y="4069080"/>
            <a:ext cx="22037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Mirrors the live railway network digitally, minute by minute, in a headless simulation engine.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83280" y="288036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3136392"/>
            <a:ext cx="457200" cy="73152"/>
          </a:xfrm>
          <a:prstGeom prst="rect">
            <a:avLst/>
          </a:prstGeom>
          <a:solidFill>
            <a:srgbClr val="1B722B"/>
          </a:solidFill>
          <a:ln/>
        </p:spPr>
      </p:sp>
      <p:sp>
        <p:nvSpPr>
          <p:cNvPr id="11" name="Text 8"/>
          <p:cNvSpPr/>
          <p:nvPr/>
        </p:nvSpPr>
        <p:spPr>
          <a:xfrm>
            <a:off x="3584448" y="333756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60-Min Look-Ahead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584448" y="4069080"/>
            <a:ext cx="22037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track conflicts up to 60 minutes in advance, before trains reach occupied blocks.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172200" y="288036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0" y="3136392"/>
            <a:ext cx="457200" cy="73152"/>
          </a:xfrm>
          <a:prstGeom prst="rect">
            <a:avLst/>
          </a:prstGeom>
          <a:solidFill>
            <a:srgbClr val="FF6B1A"/>
          </a:solidFill>
          <a:ln/>
        </p:spPr>
      </p:sp>
      <p:sp>
        <p:nvSpPr>
          <p:cNvPr id="15" name="Text 12"/>
          <p:cNvSpPr/>
          <p:nvPr/>
        </p:nvSpPr>
        <p:spPr>
          <a:xfrm>
            <a:off x="6373368" y="333756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Optimization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373368" y="4069080"/>
            <a:ext cx="22037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constraint optimization to auto-resolve conflicts and minimize system-wide delay.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961120" y="288036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9189720" y="3136392"/>
            <a:ext cx="457200" cy="73152"/>
          </a:xfrm>
          <a:prstGeom prst="rect">
            <a:avLst/>
          </a:prstGeom>
          <a:solidFill>
            <a:srgbClr val="1B722B"/>
          </a:solidFill>
          <a:ln/>
        </p:spPr>
      </p:sp>
      <p:sp>
        <p:nvSpPr>
          <p:cNvPr id="19" name="Text 16"/>
          <p:cNvSpPr/>
          <p:nvPr/>
        </p:nvSpPr>
        <p:spPr>
          <a:xfrm>
            <a:off x="9162288" y="333756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Control Room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162288" y="4069080"/>
            <a:ext cx="22037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dispatchers a visual dashboard with clear reasoning behind every recommendation.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23774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E2261"/>
            </a:solidFill>
            <a:prstDash val="solid"/>
          </a:ln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594360" y="2450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94360" y="2670048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Network &amp;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Timetable Data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194560" y="3063240"/>
            <a:ext cx="256032" cy="457200"/>
          </a:xfrm>
          <a:prstGeom prst="line">
            <a:avLst/>
          </a:prstGeom>
          <a:noFill/>
          <a:ln w="25400">
            <a:solidFill>
              <a:srgbClr val="FF6B1A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2450592" y="28346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E2261"/>
            </a:solidFill>
            <a:prstDash val="solid"/>
          </a:ln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542032" y="2907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542032" y="3127248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Discrete Simulation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(minute-by-minute)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42232" y="3520440"/>
            <a:ext cx="256032" cy="0"/>
          </a:xfrm>
          <a:prstGeom prst="line">
            <a:avLst/>
          </a:prstGeom>
          <a:noFill/>
          <a:ln w="25400">
            <a:solidFill>
              <a:srgbClr val="FF6B1A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398264" y="23774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E2261"/>
            </a:solidFill>
            <a:prstDash val="solid"/>
          </a:ln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489704" y="2450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489704" y="2670048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60-Min Look-Ahead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Scanner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89904" y="3063240"/>
            <a:ext cx="256032" cy="457200"/>
          </a:xfrm>
          <a:prstGeom prst="line">
            <a:avLst/>
          </a:prstGeom>
          <a:noFill/>
          <a:ln w="25400">
            <a:solidFill>
              <a:srgbClr val="FF6B1A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345936" y="28346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E2261"/>
            </a:solidFill>
            <a:prstDash val="solid"/>
          </a:ln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37376" y="2907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37376" y="3127248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OR-Tools CP-SAT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037576" y="3520440"/>
            <a:ext cx="256032" cy="0"/>
          </a:xfrm>
          <a:prstGeom prst="line">
            <a:avLst/>
          </a:prstGeom>
          <a:noFill/>
          <a:ln w="25400">
            <a:solidFill>
              <a:srgbClr val="FF6B1A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8293608" y="23774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E2261"/>
            </a:solidFill>
            <a:prstDash val="solid"/>
          </a:ln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385048" y="2450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385048" y="2670048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9985248" y="3063240"/>
            <a:ext cx="256032" cy="457200"/>
          </a:xfrm>
          <a:prstGeom prst="line">
            <a:avLst/>
          </a:prstGeom>
          <a:noFill/>
          <a:ln w="25400">
            <a:solidFill>
              <a:srgbClr val="FF6B1A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10241280" y="28346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FF6B1A"/>
          </a:solidFill>
          <a:ln w="19050">
            <a:solidFill>
              <a:srgbClr val="FF6B1A"/>
            </a:solidFill>
            <a:prstDash val="solid"/>
          </a:ln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10332720" y="2907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332720" y="3127248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Room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94360" y="4892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</a:t>
            </a: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serves the simulation and optimizer through REST APIs.   </a:t>
            </a:r>
            <a:r>
              <a:rPr lang="en-US" sz="1300" b="1" dirty="0">
                <a:solidFill>
                  <a:srgbClr val="1E2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</a:t>
            </a: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control room dashboard consumes this data live.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" y="178308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94360" y="1783080"/>
            <a:ext cx="73152" cy="1783080"/>
          </a:xfrm>
          <a:prstGeom prst="rect">
            <a:avLst/>
          </a:prstGeom>
          <a:solidFill>
            <a:srgbClr val="FF6B1A"/>
          </a:solidFill>
          <a:ln/>
        </p:spPr>
      </p:sp>
      <p:sp>
        <p:nvSpPr>
          <p:cNvPr id="5" name="Text 2"/>
          <p:cNvSpPr/>
          <p:nvPr/>
        </p:nvSpPr>
        <p:spPr>
          <a:xfrm>
            <a:off x="868680" y="19202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68680" y="23317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25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25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OR-Tools (CP-SAT)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217920" y="178308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17920" y="1783080"/>
            <a:ext cx="73152" cy="1783080"/>
          </a:xfrm>
          <a:prstGeom prst="rect">
            <a:avLst/>
          </a:prstGeom>
          <a:solidFill>
            <a:srgbClr val="1E2261"/>
          </a:solidFill>
          <a:ln/>
        </p:spPr>
      </p:sp>
      <p:sp>
        <p:nvSpPr>
          <p:cNvPr id="9" name="Text 6"/>
          <p:cNvSpPr/>
          <p:nvPr/>
        </p:nvSpPr>
        <p:spPr>
          <a:xfrm>
            <a:off x="6492240" y="19202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Engine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92240" y="23317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Headless Python discrete-event engine</a:t>
            </a:r>
            <a:endParaRPr lang="en-US" sz="125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occupancy &amp; safety rule enforcement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94360" y="384048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" y="3840480"/>
            <a:ext cx="73152" cy="1783080"/>
          </a:xfrm>
          <a:prstGeom prst="rect">
            <a:avLst/>
          </a:prstGeom>
          <a:solidFill>
            <a:srgbClr val="1B722B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39776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68680" y="43891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15</a:t>
            </a:r>
            <a:endParaRPr lang="en-US" sz="125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25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 (live delay charts)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217920" y="384048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17920" y="3840480"/>
            <a:ext cx="73152" cy="1783080"/>
          </a:xfrm>
          <a:prstGeom prst="rect">
            <a:avLst/>
          </a:prstGeom>
          <a:solidFill>
            <a:srgbClr val="7A2EB5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9776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492240" y="43891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network topology</a:t>
            </a:r>
            <a:endParaRPr lang="en-US" sz="125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timetables</a:t>
            </a:r>
            <a:endParaRPr lang="en-US" sz="125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 data models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" y="1856232"/>
            <a:ext cx="457200" cy="457200"/>
          </a:xfrm>
          <a:prstGeom prst="ellipse">
            <a:avLst/>
          </a:prstGeom>
          <a:solidFill>
            <a:srgbClr val="FF6B1A"/>
          </a:solidFill>
          <a:ln/>
        </p:spPr>
      </p:sp>
      <p:sp>
        <p:nvSpPr>
          <p:cNvPr id="4" name="Text 1"/>
          <p:cNvSpPr/>
          <p:nvPr/>
        </p:nvSpPr>
        <p:spPr>
          <a:xfrm>
            <a:off x="59436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80160" y="17830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60-Min Look-Ahead Scanner  —  </a:t>
            </a: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Spots bottlenecks before trains physically reach occupied track blocks — proactive, not reactive.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280160" y="2606040"/>
            <a:ext cx="10241280" cy="0"/>
          </a:xfrm>
          <a:prstGeom prst="line">
            <a:avLst/>
          </a:prstGeom>
          <a:noFill/>
          <a:ln w="12700">
            <a:solidFill>
              <a:srgbClr val="EAEA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2752344"/>
            <a:ext cx="457200" cy="457200"/>
          </a:xfrm>
          <a:prstGeom prst="ellipse">
            <a:avLst/>
          </a:prstGeom>
          <a:solidFill>
            <a:srgbClr val="1B722B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2752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80160" y="267919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Priority-Weighted Optimization  —  </a:t>
            </a: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CP-SAT solver minimizes total priority-weighted delay, not just first-come-first-served.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280160" y="3502152"/>
            <a:ext cx="10241280" cy="0"/>
          </a:xfrm>
          <a:prstGeom prst="line">
            <a:avLst/>
          </a:prstGeom>
          <a:noFill/>
          <a:ln w="12700">
            <a:solidFill>
              <a:srgbClr val="EAEA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" y="3648456"/>
            <a:ext cx="457200" cy="457200"/>
          </a:xfrm>
          <a:prstGeom prst="ellipse">
            <a:avLst/>
          </a:prstGeom>
          <a:solidFill>
            <a:srgbClr val="FF6B1A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80160" y="3575304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High-Fidelity Simulation  —  </a:t>
            </a: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Minute-by-minute discrete engine enforces real track occupancy and safety constraints.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280160" y="4398264"/>
            <a:ext cx="10241280" cy="0"/>
          </a:xfrm>
          <a:prstGeom prst="line">
            <a:avLst/>
          </a:prstGeom>
          <a:noFill/>
          <a:ln w="12700">
            <a:solidFill>
              <a:srgbClr val="EAEA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4360" y="4544568"/>
            <a:ext cx="457200" cy="457200"/>
          </a:xfrm>
          <a:prstGeom prst="ellipse">
            <a:avLst/>
          </a:prstGeom>
          <a:solidFill>
            <a:srgbClr val="1B722B"/>
          </a:solidFill>
          <a:ln/>
        </p:spPr>
      </p:sp>
      <p:sp>
        <p:nvSpPr>
          <p:cNvPr id="16" name="Text 13"/>
          <p:cNvSpPr/>
          <p:nvPr/>
        </p:nvSpPr>
        <p:spPr>
          <a:xfrm>
            <a:off x="594360" y="4544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280160" y="4471416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 Dispatch Feed  —  </a:t>
            </a: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dispatchers why a decision was made — building trust instead of a black box.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280160" y="5294376"/>
            <a:ext cx="10241280" cy="0"/>
          </a:xfrm>
          <a:prstGeom prst="line">
            <a:avLst/>
          </a:prstGeom>
          <a:noFill/>
          <a:ln w="12700">
            <a:solidFill>
              <a:srgbClr val="EAEA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4360" y="5440680"/>
            <a:ext cx="457200" cy="457200"/>
          </a:xfrm>
          <a:prstGeom prst="ellipse">
            <a:avLst/>
          </a:prstGeom>
          <a:solidFill>
            <a:srgbClr val="FF6B1A"/>
          </a:solidFill>
          <a:ln/>
        </p:spPr>
      </p:sp>
      <p:sp>
        <p:nvSpPr>
          <p:cNvPr id="20" name="Text 17"/>
          <p:cNvSpPr/>
          <p:nvPr/>
        </p:nvSpPr>
        <p:spPr>
          <a:xfrm>
            <a:off x="594360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280160" y="536752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Visual Control Room  —  </a:t>
            </a: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Animated SVG track map and real-time delay charts for instant situational awareness.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" y="178308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22960" y="20116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B722B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2651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3108960"/>
            <a:ext cx="3154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entirely on proven, production-grade tools</a:t>
            </a:r>
            <a:endParaRPr lang="en-US" sz="120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FastAPI, OR-Tools, and Next.js are mature and well-documented</a:t>
            </a:r>
            <a:endParaRPr lang="en-US" sz="120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exotic or unavailable technology dependencies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389120" y="178308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617720" y="20116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F6B1A"/>
          </a:solidFill>
          <a:ln/>
        </p:spPr>
      </p:sp>
      <p:sp>
        <p:nvSpPr>
          <p:cNvPr id="9" name="Text 6"/>
          <p:cNvSpPr/>
          <p:nvPr/>
        </p:nvSpPr>
        <p:spPr>
          <a:xfrm>
            <a:off x="4617720" y="2651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17720" y="3108960"/>
            <a:ext cx="3154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Modeling real-world track topology with high accuracy</a:t>
            </a:r>
            <a:endParaRPr lang="en-US" sz="120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Solver scalability as network size grows</a:t>
            </a:r>
            <a:endParaRPr lang="en-US" sz="120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integration with legacy signaling systems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183880" y="178308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412480" y="20116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7A2EB5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0" y="2651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Edge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412480" y="3108960"/>
            <a:ext cx="3154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dispatch aids are largely manual or rule-based</a:t>
            </a:r>
            <a:endParaRPr lang="en-US" sz="120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rail simulators aren't tailored to Indian Railways' scale</a:t>
            </a:r>
            <a:endParaRPr lang="en-US" sz="120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combine prediction, optimization, and explainability in one system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" y="169164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94360" y="1691640"/>
            <a:ext cx="73152" cy="2103120"/>
          </a:xfrm>
          <a:prstGeom prst="rect">
            <a:avLst/>
          </a:prstGeom>
          <a:solidFill>
            <a:srgbClr val="FF6B1A"/>
          </a:solidFill>
          <a:ln/>
        </p:spPr>
      </p:sp>
      <p:sp>
        <p:nvSpPr>
          <p:cNvPr id="5" name="Text 2"/>
          <p:cNvSpPr/>
          <p:nvPr/>
        </p:nvSpPr>
        <p:spPr>
          <a:xfrm>
            <a:off x="850392" y="18105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 Domain Precedents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50392" y="21945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 Control Office Application (COA)</a:t>
            </a:r>
            <a:endParaRPr lang="en-US" sz="105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Freight Operations Information System (FOIS)</a:t>
            </a:r>
            <a:endParaRPr lang="en-US" sz="105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Rail Plan (NRP) 2030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172200" y="169164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172200" y="1691640"/>
            <a:ext cx="73152" cy="2103120"/>
          </a:xfrm>
          <a:prstGeom prst="rect">
            <a:avLst/>
          </a:prstGeom>
          <a:solidFill>
            <a:srgbClr val="1E2261"/>
          </a:solidFill>
          <a:ln/>
        </p:spPr>
      </p:sp>
      <p:sp>
        <p:nvSpPr>
          <p:cNvPr id="9" name="Text 6"/>
          <p:cNvSpPr/>
          <p:nvPr/>
        </p:nvSpPr>
        <p:spPr>
          <a:xfrm>
            <a:off x="6428232" y="18105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Foundations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28232" y="21945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Corman &amp; Meng (2015) — real-time rescheduling models</a:t>
            </a:r>
            <a:endParaRPr lang="en-US" sz="105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D'Ariano et al. (2007) — disjunctive precedence constraints</a:t>
            </a:r>
            <a:endParaRPr lang="en-US" sz="105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Lusby et al. (2011) — track allocation via CP</a:t>
            </a:r>
            <a:endParaRPr lang="en-US" sz="105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Pellegrini et al. (2014) — exact vs. heuristic dispatching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4360" y="393192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" y="3931920"/>
            <a:ext cx="73152" cy="2103120"/>
          </a:xfrm>
          <a:prstGeom prst="rect">
            <a:avLst/>
          </a:prstGeom>
          <a:solidFill>
            <a:srgbClr val="1B722B"/>
          </a:solidFill>
          <a:ln/>
        </p:spPr>
      </p:sp>
      <p:sp>
        <p:nvSpPr>
          <p:cNvPr id="13" name="Text 10"/>
          <p:cNvSpPr/>
          <p:nvPr/>
        </p:nvSpPr>
        <p:spPr>
          <a:xfrm>
            <a:off x="850392" y="40507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&amp; Solver Documentation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50392" y="44348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OR-Tools CP-SAT solver</a:t>
            </a:r>
            <a:endParaRPr lang="en-US" sz="105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— REST backend framework</a:t>
            </a:r>
            <a:endParaRPr lang="en-US" sz="105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15 — dashboard frontend</a:t>
            </a:r>
            <a:endParaRPr lang="en-US" sz="105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 &amp; Framer Motion — visualization &amp; motion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172200" y="393192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72200" y="3931920"/>
            <a:ext cx="73152" cy="2103120"/>
          </a:xfrm>
          <a:prstGeom prst="rect">
            <a:avLst/>
          </a:prstGeom>
          <a:solidFill>
            <a:srgbClr val="7A2EB5"/>
          </a:solidFill>
          <a:ln/>
        </p:spPr>
      </p:sp>
      <p:sp>
        <p:nvSpPr>
          <p:cNvPr id="17" name="Text 14"/>
          <p:cNvSpPr/>
          <p:nvPr/>
        </p:nvSpPr>
        <p:spPr>
          <a:xfrm>
            <a:off x="6428232" y="40507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Rail Precedents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428232" y="44348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SBB (Switzerland) — automated conflict detection</a:t>
            </a:r>
            <a:endParaRPr lang="en-US" sz="105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Deutsche Bahn — AI-driven capacity optimization</a:t>
            </a:r>
            <a:endParaRPr lang="en-US" sz="105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Rail (UK) — multi-train conflict resolution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94360" y="6099048"/>
            <a:ext cx="10972800" cy="366661"/>
          </a:xfrm>
          <a:prstGeom prst="roundRect">
            <a:avLst>
              <a:gd name="adj" fmla="val 14545"/>
            </a:avLst>
          </a:prstGeom>
          <a:solidFill>
            <a:srgbClr val="FFF1E8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0" name="Text 17"/>
          <p:cNvSpPr/>
          <p:nvPr/>
        </p:nvSpPr>
        <p:spPr>
          <a:xfrm>
            <a:off x="868680" y="6035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1250">
                <a:solidFill>
                  <a:srgbClr val="1E2261"/>
                </a:solidFill>
                <a:latin typeface="Arial"/>
              </a:rPr>
              <a:t>GitHub Repository:  </a:t>
            </a:r>
            <a:r>
              <a:rPr b="0" sz="1250">
                <a:solidFill>
                  <a:srgbClr val="555555"/>
                </a:solidFill>
                <a:latin typeface="Arial"/>
              </a:rPr>
              <a:t>github.com/harshjsh01/Digital-Twin</a:t>
            </a:r>
            <a:r>
              <a:rPr b="0" sz="1250">
                <a:solidFill>
                  <a:srgbClr val="555555"/>
                </a:solidFill>
                <a:latin typeface="Arial"/>
              </a:rPr>
              <a:t>      |      </a:t>
            </a:r>
            <a:r>
              <a:rPr b="1" sz="1250">
                <a:solidFill>
                  <a:srgbClr val="1E2261"/>
                </a:solidFill>
                <a:latin typeface="Arial"/>
              </a:rPr>
              <a:t>x402/Algorand Track Repo:  </a:t>
            </a:r>
            <a:r>
              <a:rPr b="0" sz="1250">
                <a:solidFill>
                  <a:srgbClr val="555555"/>
                </a:solidFill>
                <a:latin typeface="Arial"/>
              </a:rPr>
              <a:t>github.com/marotipatre/x402-Project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417320"/>
            <a:ext cx="5120640" cy="5120640"/>
          </a:xfrm>
          <a:prstGeom prst="rect">
            <a:avLst/>
          </a:prstGeom>
        </p:spPr>
      </p:pic>
      <p:pic>
        <p:nvPicPr>
          <p:cNvPr id="3" name="Picture 2" descr="logo_le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1440"/>
            <a:ext cx="822960" cy="822960"/>
          </a:xfrm>
          <a:prstGeom prst="rect">
            <a:avLst/>
          </a:prstGeom>
        </p:spPr>
      </p:pic>
      <p:pic>
        <p:nvPicPr>
          <p:cNvPr id="4" name="Picture 3" descr="logo_cent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0"/>
            <a:ext cx="1645920" cy="987552"/>
          </a:xfrm>
          <a:prstGeom prst="rect">
            <a:avLst/>
          </a:prstGeom>
        </p:spPr>
      </p:pic>
      <p:pic>
        <p:nvPicPr>
          <p:cNvPr id="5" name="Picture 4" descr="logo_righ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45720"/>
            <a:ext cx="868680" cy="868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1078992"/>
            <a:ext cx="82296" cy="438912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05840"/>
            <a:ext cx="7863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600" i="0">
                <a:solidFill>
                  <a:srgbClr val="111111"/>
                </a:solidFill>
                <a:latin typeface="Arial"/>
              </a:rPr>
              <a:t>x402 + ALGORAND INTEGRATION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75320" y="1293876"/>
            <a:ext cx="3596640" cy="1828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07647" y="1252728"/>
            <a:ext cx="91440" cy="91440"/>
          </a:xfrm>
          <a:prstGeom prst="ellipse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6565392"/>
            <a:ext cx="4846320" cy="1828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6565392"/>
            <a:ext cx="4556455" cy="18288"/>
          </a:xfrm>
          <a:prstGeom prst="rect">
            <a:avLst/>
          </a:prstGeom>
          <a:solidFill>
            <a:srgbClr val="1B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6428231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100" i="0" spc="100">
                <a:solidFill>
                  <a:srgbClr val="111111"/>
                </a:solidFill>
                <a:latin typeface="Arial"/>
              </a:rPr>
              <a:t>BUILD WITH </a:t>
            </a:r>
            <a:r>
              <a:rPr b="1" sz="1100" i="0" spc="100">
                <a:solidFill>
                  <a:srgbClr val="FF6B1A"/>
                </a:solidFill>
                <a:latin typeface="Arial"/>
              </a:rPr>
              <a:t>भारत 2.0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691640"/>
            <a:ext cx="10972800" cy="777240"/>
          </a:xfrm>
          <a:prstGeom prst="rect">
            <a:avLst/>
          </a:prstGeom>
          <a:solidFill>
            <a:srgbClr val="FF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691640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300" i="1">
                <a:solidFill>
                  <a:srgbClr val="1E2261"/>
                </a:solidFill>
                <a:latin typeface="Arial"/>
              </a:rPr>
              <a:t>Per the hackathon's mandatory Agentic Solutions track, the dispatcher agent autonomously pays for premium data feeds via the x402 protocol, settled live on the Algorand blockchain.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697480"/>
            <a:ext cx="2606040" cy="2743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843784"/>
            <a:ext cx="2203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00" i="0" spc="100">
                <a:solidFill>
                  <a:srgbClr val="FF6B1A"/>
                </a:solidFill>
                <a:latin typeface="Arial"/>
              </a:rPr>
              <a:t>TRIGGER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8" y="3081528"/>
            <a:ext cx="457200" cy="4114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246120"/>
            <a:ext cx="22037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0" i="0">
                <a:solidFill>
                  <a:srgbClr val="1E2261"/>
                </a:solidFill>
                <a:latin typeface="Arial"/>
              </a:rPr>
              <a:t>402 Payment Required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3931920"/>
            <a:ext cx="220370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00" i="0">
                <a:solidFill>
                  <a:srgbClr val="555555"/>
                </a:solidFill>
                <a:latin typeface="Arial"/>
              </a:rPr>
              <a:t>Dispatcher agent requests premium telemetry (weather, track sensors); the data API responds with HTTP 402.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2697480"/>
            <a:ext cx="2606040" cy="2743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84448" y="2843784"/>
            <a:ext cx="2203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00" i="0" spc="100">
                <a:solidFill>
                  <a:srgbClr val="1B722B"/>
                </a:solidFill>
                <a:latin typeface="Arial"/>
              </a:rPr>
              <a:t>PAY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84448" y="3081528"/>
            <a:ext cx="457200" cy="41148"/>
          </a:xfrm>
          <a:prstGeom prst="rect">
            <a:avLst/>
          </a:prstGeom>
          <a:solidFill>
            <a:srgbClr val="1B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84448" y="3246120"/>
            <a:ext cx="22037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0" i="0">
                <a:solidFill>
                  <a:srgbClr val="1E2261"/>
                </a:solidFill>
                <a:latin typeface="Arial"/>
              </a:rPr>
              <a:t>Autonomous Micro-Payment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84448" y="3931920"/>
            <a:ext cx="220370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00" i="0">
                <a:solidFill>
                  <a:srgbClr val="555555"/>
                </a:solidFill>
                <a:latin typeface="Arial"/>
              </a:rPr>
              <a:t>Agent signs and sends a payment on Algorand Testnet via the @x402-avm client — no human approval needed.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2697480"/>
            <a:ext cx="2606040" cy="2743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2843784"/>
            <a:ext cx="2203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00" i="0" spc="100">
                <a:solidFill>
                  <a:srgbClr val="FF6B1A"/>
                </a:solidFill>
                <a:latin typeface="Arial"/>
              </a:rPr>
              <a:t>VERIFY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73368" y="3081528"/>
            <a:ext cx="457200" cy="4114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3368" y="3246120"/>
            <a:ext cx="22037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0" i="0">
                <a:solidFill>
                  <a:srgbClr val="1E2261"/>
                </a:solidFill>
                <a:latin typeface="Arial"/>
              </a:rPr>
              <a:t>GoPlausible Facilitator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3931920"/>
            <a:ext cx="220370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00" i="0">
                <a:solidFill>
                  <a:srgbClr val="555555"/>
                </a:solidFill>
                <a:latin typeface="Arial"/>
              </a:rPr>
              <a:t>Payment is verified and settled on-chain through the GoPlausible Facilitator before data is released.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0" y="2697480"/>
            <a:ext cx="2606040" cy="2743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62288" y="2843784"/>
            <a:ext cx="2203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00" i="0" spc="100">
                <a:solidFill>
                  <a:srgbClr val="1B722B"/>
                </a:solidFill>
                <a:latin typeface="Arial"/>
              </a:rPr>
              <a:t>UNLOCK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62288" y="3081528"/>
            <a:ext cx="457200" cy="41148"/>
          </a:xfrm>
          <a:prstGeom prst="rect">
            <a:avLst/>
          </a:prstGeom>
          <a:solidFill>
            <a:srgbClr val="1B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62288" y="3246120"/>
            <a:ext cx="22037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0" i="0">
                <a:solidFill>
                  <a:srgbClr val="1E2261"/>
                </a:solidFill>
                <a:latin typeface="Arial"/>
              </a:rPr>
              <a:t>Data Delivered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62288" y="3931920"/>
            <a:ext cx="220370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00" i="0">
                <a:solidFill>
                  <a:srgbClr val="555555"/>
                </a:solidFill>
                <a:latin typeface="Arial"/>
              </a:rPr>
              <a:t>Agent retries the request, receives the paid data, and feeds it into the 60-min conflict scanner.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623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50" i="0">
                <a:solidFill>
                  <a:srgbClr val="1E2261"/>
                </a:solidFill>
                <a:latin typeface="Arial"/>
              </a:rPr>
              <a:t>Live on Algorand Testnet (LoRA)  ·  </a:t>
            </a:r>
            <a:r>
              <a:rPr b="0" sz="1250" i="0">
                <a:solidFill>
                  <a:srgbClr val="555555"/>
                </a:solidFill>
                <a:latin typeface="Arial"/>
              </a:rPr>
              <a:t>@x402-avm</a:t>
            </a:r>
            <a:r>
              <a:rPr b="0" sz="1250" i="0">
                <a:solidFill>
                  <a:srgbClr val="555555"/>
                </a:solidFill>
                <a:latin typeface="Arial"/>
              </a:rPr>
              <a:t> in package.json  ·  Verifiable transaction hash provided at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659</Words>
  <Application>Microsoft Office PowerPoint</Application>
  <PresentationFormat>Widescreen</PresentationFormat>
  <Paragraphs>108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Gurmehakdeep singh</cp:lastModifiedBy>
  <cp:revision>3</cp:revision>
  <dcterms:created xsi:type="dcterms:W3CDTF">2026-08-30T17:38:17Z</dcterms:created>
  <dcterms:modified xsi:type="dcterms:W3CDTF">2026-08-30T18:57:46Z</dcterms:modified>
</cp:coreProperties>
</file>